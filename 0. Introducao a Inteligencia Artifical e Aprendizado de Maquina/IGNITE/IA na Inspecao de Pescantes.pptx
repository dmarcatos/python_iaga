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Outfit"/>
      <p:regular r:id="rId13"/>
      <p:bold r:id="rId14"/>
    </p:embeddedFont>
    <p:embeddedFont>
      <p:font typeface="Space Grotesk Medium"/>
      <p:regular r:id="rId15"/>
      <p:bold r:id="rId16"/>
    </p:embeddedFont>
    <p:embeddedFont>
      <p:font typeface="Space Grotesk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5D6AF5-228A-4A46-9A4E-00B3CF453AA4}">
  <a:tblStyle styleId="{F15D6AF5-228A-4A46-9A4E-00B3CF453A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Outfit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SpaceGroteskMedium-regular.fntdata"/><Relationship Id="rId14" Type="http://schemas.openxmlformats.org/officeDocument/2006/relationships/font" Target="fonts/Outfit-bold.fntdata"/><Relationship Id="rId17" Type="http://schemas.openxmlformats.org/officeDocument/2006/relationships/font" Target="fonts/SpaceGrotesk-regular.fntdata"/><Relationship Id="rId16" Type="http://schemas.openxmlformats.org/officeDocument/2006/relationships/font" Target="fonts/SpaceGrotesk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SpaceGrotes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060400"/>
            <a:ext cx="110299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D700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PÓS-GRADUAÇÃO EM IA GENERATIVA | UTFPR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1544240"/>
            <a:ext cx="1158144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IA NA INSPEÇÃO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DE </a:t>
            </a:r>
            <a:r>
              <a:rPr b="1" i="0" lang="en-US" sz="6000" u="none" cap="none" strike="noStrike">
                <a:solidFill>
                  <a:srgbClr val="FFD700"/>
                </a:solidFill>
                <a:latin typeface="Outfit"/>
                <a:ea typeface="Outfit"/>
                <a:cs typeface="Outfit"/>
                <a:sym typeface="Outfit"/>
              </a:rPr>
              <a:t>PESCANTES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201590"/>
            <a:ext cx="110299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Classificação por Visão Computacional em Tempo Real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0950" y="4151614"/>
            <a:ext cx="1103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AAAAA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EQUIPE DO PROJETO:</a:t>
            </a:r>
            <a:endParaRPr b="1" sz="2000">
              <a:solidFill>
                <a:srgbClr val="AAAAAA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4666357"/>
            <a:ext cx="543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Space Grotesk"/>
                <a:ea typeface="Space Grotesk"/>
                <a:cs typeface="Space Grotesk"/>
                <a:sym typeface="Space Grotesk"/>
              </a:rPr>
              <a:t>Guilherme Augusto Coutinho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81025" y="4982467"/>
            <a:ext cx="54387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Space Grotesk"/>
                <a:ea typeface="Space Grotesk"/>
                <a:cs typeface="Space Grotesk"/>
                <a:sym typeface="Space Grotesk"/>
              </a:rPr>
              <a:t>Bruno Milhan de Oliveira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81025" y="5298578"/>
            <a:ext cx="54387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Space Grotesk"/>
                <a:ea typeface="Space Grotesk"/>
                <a:cs typeface="Space Grotesk"/>
                <a:sym typeface="Space Grotesk"/>
              </a:rPr>
              <a:t>Gabriel Carvalho Kague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81025" y="5614689"/>
            <a:ext cx="54387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Space Grotesk"/>
                <a:ea typeface="Space Grotesk"/>
                <a:cs typeface="Space Grotesk"/>
                <a:sym typeface="Space Grotesk"/>
              </a:rPr>
              <a:t>Vinicius Sbragia Teodoro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827266" y="4666357"/>
            <a:ext cx="543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Danilo Marcato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827266" y="4982467"/>
            <a:ext cx="543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Paulo Sergio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827266" y="5298578"/>
            <a:ext cx="543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AAAAA"/>
                </a:solidFill>
                <a:latin typeface="Space Grotesk"/>
                <a:ea typeface="Space Grotesk"/>
                <a:cs typeface="Space Grotesk"/>
                <a:sym typeface="Space Grotesk"/>
              </a:rPr>
              <a:t>Julio Yamaguchi Limeira</a:t>
            </a:r>
            <a:endParaRPr/>
          </a:p>
        </p:txBody>
      </p:sp>
      <p:pic>
        <p:nvPicPr>
          <p:cNvPr id="96" name="Google Shape;96;p13" title="imag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425" y="1047750"/>
            <a:ext cx="4762500" cy="4762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3"/>
          <p:cNvCxnSpPr/>
          <p:nvPr/>
        </p:nvCxnSpPr>
        <p:spPr>
          <a:xfrm rot="10800000">
            <a:off x="3418649" y="4734173"/>
            <a:ext cx="0" cy="1005000"/>
          </a:xfrm>
          <a:prstGeom prst="straightConnector1">
            <a:avLst/>
          </a:prstGeom>
          <a:noFill/>
          <a:ln cap="flat" cmpd="sng" w="28575">
            <a:solidFill>
              <a:srgbClr val="AAAAA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27926"/>
            <a:ext cx="5276850" cy="35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title="image-removebg-preview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7550" y="92475"/>
            <a:ext cx="47053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527926"/>
            <a:ext cx="5276850" cy="35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971550" y="2692151"/>
            <a:ext cx="47205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D7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Impacto no Envase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71550" y="3282701"/>
            <a:ext cx="44958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pescante (tubo pescador) é crítico para o funcionamento do spray d</a:t>
            </a:r>
            <a:r>
              <a:rPr lang="en-US" sz="1650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os</a:t>
            </a: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 perfumes. </a:t>
            </a:r>
            <a:endParaRPr b="0" i="0" sz="1650" u="none" cap="none" strike="noStrike">
              <a:solidFill>
                <a:srgbClr val="CCCCC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Falhas geométricas impedem o fechamento do frasco</a:t>
            </a:r>
            <a:r>
              <a:rPr lang="en-US" sz="1650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 e funcionamento do spray.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71550" y="4896262"/>
            <a:ext cx="449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Inspeção Manual:</a:t>
            </a: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Ineficiente para linhas que operam em alta cadência (&gt;120 peças/min).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62750" y="2692151"/>
            <a:ext cx="468058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D700"/>
                </a:solidFill>
                <a:latin typeface="Space Grotesk"/>
                <a:ea typeface="Space Grotesk"/>
                <a:cs typeface="Space Grotesk"/>
                <a:sym typeface="Space Grotesk"/>
              </a:rPr>
              <a:t>Necessidade Técnica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62750" y="3282701"/>
            <a:ext cx="44577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Identificação instantânea de: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067550" y="372748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143750" y="3728442"/>
            <a:ext cx="407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Pescantes com deformação (</a:t>
            </a:r>
            <a:r>
              <a:rPr b="0" i="0" lang="en-US" sz="1650" u="none" cap="none" strike="noStrike">
                <a:solidFill>
                  <a:srgbClr val="CC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Torto</a:t>
            </a: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067550" y="4163704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143750" y="4164657"/>
            <a:ext cx="407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Falhas de alimentação (</a:t>
            </a:r>
            <a:r>
              <a:rPr b="0" i="0" lang="en-US" sz="1650" u="none" cap="none" strike="noStrike">
                <a:solidFill>
                  <a:srgbClr val="CC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Ausente</a:t>
            </a: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067550" y="459992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143750" y="4600872"/>
            <a:ext cx="407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Integridade estrutural (</a:t>
            </a:r>
            <a:r>
              <a:rPr b="0" i="0" lang="en-US" sz="1650" u="none" cap="none" strike="noStrike">
                <a:solidFill>
                  <a:srgbClr val="38761D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Reto</a:t>
            </a: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D700"/>
                </a:solidFill>
                <a:latin typeface="Outfit"/>
                <a:ea typeface="Outfit"/>
                <a:cs typeface="Outfit"/>
                <a:sym typeface="Outfit"/>
              </a:rPr>
              <a:t>O DESAFIO DA QUALIDADE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43575"/>
            <a:ext cx="5276850" cy="498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582701"/>
            <a:ext cx="5276850" cy="16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81025" y="2437655"/>
            <a:ext cx="52768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Câmeras industriais capturam o componente em movimento. A IA processa a imagem em milissegundos para tomada de decisão.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78800" y="4234730"/>
            <a:ext cx="3737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1650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lassificação geométrica.</a:t>
            </a:r>
            <a:endParaRPr sz="1700"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8803" y="429205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D700"/>
                </a:solidFill>
                <a:latin typeface="Outfit"/>
                <a:ea typeface="Outfit"/>
                <a:cs typeface="Outfit"/>
                <a:sym typeface="Outfit"/>
              </a:rPr>
              <a:t>VISÃO COMPUTACIONAL &amp; IA</a:t>
            </a:r>
            <a:endParaRPr/>
          </a:p>
        </p:txBody>
      </p:sp>
      <p:pic>
        <p:nvPicPr>
          <p:cNvPr id="129" name="Google Shape;129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97875" y="1308450"/>
            <a:ext cx="3940299" cy="31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title="image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12475" y="3887450"/>
            <a:ext cx="2712750" cy="27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title="image-removebg-preview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05727" y="1659648"/>
            <a:ext cx="1836775" cy="243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/>
        </p:nvSpPr>
        <p:spPr>
          <a:xfrm>
            <a:off x="581025" y="5260925"/>
            <a:ext cx="110299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*O descarte é executado por um ejetor pneumático acionado pelo sinal da IA.</a:t>
            </a:r>
            <a:endParaRPr/>
          </a:p>
        </p:txBody>
      </p:sp>
      <p:graphicFrame>
        <p:nvGraphicFramePr>
          <p:cNvPr id="137" name="Google Shape;137;p16"/>
          <p:cNvGraphicFramePr/>
          <p:nvPr/>
        </p:nvGraphicFramePr>
        <p:xfrm>
          <a:off x="581025" y="2432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{F15D6AF5-228A-4A46-9A4E-00B3CF453AA4}</a:tableStyleId>
              </a:tblPr>
              <a:tblGrid>
                <a:gridCol w="1534150"/>
                <a:gridCol w="3614475"/>
                <a:gridCol w="3159650"/>
              </a:tblGrid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Análise da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Ação de Destino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700"/>
                    </a:solidFill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Alinhamento &lt; 2° (Conforme)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Posiciona no Frasco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TORTO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Angulação fora da tolerância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444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Descarte Automático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AUSENTE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Objeto não identificado no slot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444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Descarte Automático</a:t>
                      </a:r>
                      <a:endParaRPr sz="1200">
                        <a:solidFill>
                          <a:srgbClr val="FF4444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6"/>
          <p:cNvSpPr/>
          <p:nvPr/>
        </p:nvSpPr>
        <p:spPr>
          <a:xfrm>
            <a:off x="581025" y="3684537"/>
            <a:ext cx="203671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617737" y="3684537"/>
            <a:ext cx="479851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81025" y="4275087"/>
            <a:ext cx="203671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617737" y="4275087"/>
            <a:ext cx="479851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81025" y="4865637"/>
            <a:ext cx="203671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617737" y="4865637"/>
            <a:ext cx="479851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D700"/>
                </a:solidFill>
                <a:latin typeface="Outfit"/>
                <a:ea typeface="Outfit"/>
                <a:cs typeface="Outfit"/>
                <a:sym typeface="Outfit"/>
              </a:rPr>
              <a:t>LÓGICA DE CLASSIFICAÇÃO</a:t>
            </a:r>
            <a:endParaRPr/>
          </a:p>
        </p:txBody>
      </p:sp>
      <p:pic>
        <p:nvPicPr>
          <p:cNvPr id="145" name="Google Shape;145;p16" title="image-removebg-preview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3525" y="1712425"/>
            <a:ext cx="4428475" cy="41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319621" y="2930346"/>
            <a:ext cx="5277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FD700"/>
                </a:solidFill>
                <a:latin typeface="Space Grotesk"/>
                <a:ea typeface="Space Grotesk"/>
                <a:cs typeface="Space Grotesk"/>
                <a:sym typeface="Space Grotesk"/>
              </a:rPr>
              <a:t>99.8%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319621" y="4454346"/>
            <a:ext cx="527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Acurácia de Detecção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812001" y="2589325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D700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Resultados Obtidos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38925" y="3356907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31701" y="3265600"/>
            <a:ext cx="489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50"/>
              <a:buFont typeface="Space Grotesk"/>
              <a:buChar char="●"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Redução drástica de </a:t>
            </a:r>
            <a:r>
              <a:rPr lang="en-US" sz="1650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rejeito</a:t>
            </a:r>
            <a:r>
              <a:rPr lang="en-US" sz="1650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perfume por </a:t>
            </a:r>
            <a:r>
              <a:rPr lang="en-US" sz="1650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falhas</a:t>
            </a: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1650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no</a:t>
            </a: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1650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envase</a:t>
            </a: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31701" y="3995155"/>
            <a:ext cx="489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50"/>
              <a:buFont typeface="Space Grotesk"/>
              <a:buChar char="●"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Eliminação de paradas de máquina por engasgo.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31701" y="4724711"/>
            <a:ext cx="489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50"/>
              <a:buFont typeface="Space Grotesk"/>
              <a:buChar char="●"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Aumento da velocidade nominal da linha de produção.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81025" y="913060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D700"/>
                </a:solidFill>
                <a:latin typeface="Outfit"/>
                <a:ea typeface="Outfit"/>
                <a:cs typeface="Outfit"/>
                <a:sym typeface="Outfit"/>
              </a:rPr>
              <a:t>EFICIÊNCIA OPERACIONAL</a:t>
            </a:r>
            <a:endParaRPr/>
          </a:p>
        </p:txBody>
      </p:sp>
      <p:pic>
        <p:nvPicPr>
          <p:cNvPr id="159" name="Google Shape;159;p17" title="image-removebg-preview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3825" y="-324000"/>
            <a:ext cx="4111575" cy="41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-1693693" y="1703040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D7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PERGUNTAS?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-1417944" y="3497460"/>
            <a:ext cx="110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Obrigado pela atenção.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-1417944" y="4848076"/>
            <a:ext cx="11030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UTFPR | Pós-Graduação IA Generativa</a:t>
            </a:r>
            <a:endParaRPr b="1" i="0" sz="1650" u="none" cap="none" strike="noStrike">
              <a:solidFill>
                <a:srgbClr val="CCCCCC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CCCCC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-1417944" y="5527078"/>
            <a:ext cx="1103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Curitiba, 2024</a:t>
            </a:r>
            <a:endParaRPr/>
          </a:p>
        </p:txBody>
      </p:sp>
      <p:pic>
        <p:nvPicPr>
          <p:cNvPr id="169" name="Google Shape;169;p18" title="image-removebg-preview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1600" y="793800"/>
            <a:ext cx="5270400" cy="52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